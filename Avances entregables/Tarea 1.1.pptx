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  <p:embeddedFont>
      <p:font typeface="Roboto SemiBold"/>
      <p:regular r:id="rId18"/>
      <p:bold r:id="rId19"/>
      <p:italic r:id="rId20"/>
      <p:boldItalic r:id="rId21"/>
    </p:embeddedFont>
    <p:embeddedFont>
      <p:font typeface="Roboto Mono"/>
      <p:regular r:id="rId22"/>
      <p:bold r:id="rId23"/>
      <p:italic r:id="rId24"/>
      <p:boldItalic r:id="rId25"/>
    </p:embeddedFont>
    <p:embeddedFont>
      <p:font typeface="Merriweather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SemiBold-italic.fntdata"/><Relationship Id="rId22" Type="http://schemas.openxmlformats.org/officeDocument/2006/relationships/font" Target="fonts/RobotoMono-regular.fntdata"/><Relationship Id="rId21" Type="http://schemas.openxmlformats.org/officeDocument/2006/relationships/font" Target="fonts/RobotoSemiBold-boldItalic.fntdata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erriweather-regular.fntdata"/><Relationship Id="rId25" Type="http://schemas.openxmlformats.org/officeDocument/2006/relationships/font" Target="fonts/RobotoMono-boldItalic.fntdata"/><Relationship Id="rId28" Type="http://schemas.openxmlformats.org/officeDocument/2006/relationships/font" Target="fonts/Merriweather-italic.fntdata"/><Relationship Id="rId27" Type="http://schemas.openxmlformats.org/officeDocument/2006/relationships/font" Target="fonts/Merriweather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Merriweather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19" Type="http://schemas.openxmlformats.org/officeDocument/2006/relationships/font" Target="fonts/RobotoSemiBold-bold.fntdata"/><Relationship Id="rId18" Type="http://schemas.openxmlformats.org/officeDocument/2006/relationships/font" Target="fonts/Roboto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a74346602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a74346602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8a74346602_2_5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8a74346602_2_5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8a74346602_2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8a74346602_2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800bf1fc8f_3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800bf1fc8f_3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800bf1fc8f_3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800bf1fc8f_3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800bf1fc8f_3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800bf1fc8f_3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800bf1fc8f_3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800bf1fc8f_3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1878560"/>
            <a:ext cx="4242600" cy="73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6" name="Google Shape;16;p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2" name="Google Shape;22;p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5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5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3" name="Google Shape;5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7" name="Google Shape;5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sz="2800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sz="11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/>
          <p:nvPr>
            <p:ph idx="4294967295" type="ctrTitle"/>
          </p:nvPr>
        </p:nvSpPr>
        <p:spPr>
          <a:xfrm>
            <a:off x="1212450" y="458925"/>
            <a:ext cx="6719100" cy="9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 SemiBold"/>
                <a:ea typeface="Roboto SemiBold"/>
                <a:cs typeface="Roboto SemiBold"/>
                <a:sym typeface="Roboto SemiBold"/>
              </a:rPr>
              <a:t>TAREA 1.1 - ARQ. de Aplicaciones Web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65" name="Google Shape;65;p13"/>
          <p:cNvSpPr txBox="1"/>
          <p:nvPr>
            <p:ph idx="1" type="body"/>
          </p:nvPr>
        </p:nvSpPr>
        <p:spPr>
          <a:xfrm>
            <a:off x="1283250" y="1649825"/>
            <a:ext cx="6577500" cy="245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Alvaro Eduardo Valenzuela Carbajal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Cristhian Dante Marin Gabriel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8"/>
              <a:buFont typeface="Arial"/>
              <a:buNone/>
            </a:pPr>
            <a:r>
              <a:rPr lang="es-419"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Mac Russell Romero Mendoza</a:t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8"/>
              <a:buFont typeface="Arial"/>
              <a:buNone/>
            </a:pPr>
            <a:r>
              <a:t/>
            </a:r>
            <a:endParaRPr sz="7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8"/>
              <a:buFont typeface="Arial"/>
              <a:buNone/>
            </a:pPr>
            <a:r>
              <a:rPr lang="es-419" sz="7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Mathías Sebastián Cueva Vilca</a:t>
            </a:r>
            <a:endParaRPr sz="1050">
              <a:solidFill>
                <a:srgbClr val="00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60750" y="345375"/>
            <a:ext cx="974700" cy="9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1904550" y="233200"/>
            <a:ext cx="5334900" cy="86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4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REST</a:t>
            </a:r>
            <a:endParaRPr b="1" sz="44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440400" y="1310563"/>
            <a:ext cx="8263200" cy="249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937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</a:pPr>
            <a:r>
              <a:rPr lang="es-419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 significa Representational State Transfer.</a:t>
            </a:r>
            <a:endParaRPr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</a:pPr>
            <a:r>
              <a:rPr lang="es-419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 un estilo arquitectónico para desarrollar servicios web que aprovechan los estándares de HTTP.</a:t>
            </a:r>
            <a:endParaRPr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937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Char char="●"/>
            </a:pPr>
            <a:r>
              <a:rPr lang="es-419" sz="26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 no es un protocolo, es una guía de principios.</a:t>
            </a:r>
            <a:endParaRPr sz="2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1536000" y="3977500"/>
            <a:ext cx="6072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solidFill>
                  <a:schemeClr val="lt1"/>
                </a:solidFill>
              </a:rPr>
              <a:t>“REST es la forma en que los sistemas modernos conversan a través de la web. Si HTTP fuera el idioma, REST serían las reglas gramaticales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275" y="340363"/>
            <a:ext cx="741725" cy="7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97575" y="280425"/>
            <a:ext cx="861600" cy="8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1036200" y="1374475"/>
            <a:ext cx="7071600" cy="188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 SemiBold"/>
                <a:ea typeface="Roboto SemiBold"/>
                <a:cs typeface="Roboto SemiBold"/>
                <a:sym typeface="Roboto SemiBold"/>
              </a:rPr>
              <a:t>PRINCIPIOS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8C8C8C"/>
            </a:gs>
            <a:gs pos="100000">
              <a:srgbClr val="404040"/>
            </a:gs>
          </a:gsLst>
          <a:lin ang="5400012" scaled="0"/>
        </a:gra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6"/>
          <p:cNvSpPr txBox="1"/>
          <p:nvPr>
            <p:ph idx="4294967295" type="body"/>
          </p:nvPr>
        </p:nvSpPr>
        <p:spPr>
          <a:xfrm>
            <a:off x="371250" y="343925"/>
            <a:ext cx="8401500" cy="46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358"/>
              <a:buNone/>
            </a:pPr>
            <a:r>
              <a:rPr b="1" lang="es-419" sz="2000">
                <a:solidFill>
                  <a:schemeClr val="lt1"/>
                </a:solidFill>
              </a:rPr>
              <a:t>a. Recursos bien definidos (URI)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419" sz="2000">
                <a:solidFill>
                  <a:schemeClr val="lt1"/>
                </a:solidFill>
              </a:rPr>
              <a:t>⭕ Ejemplo: /api/estudiantes/123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-419" sz="2000">
                <a:solidFill>
                  <a:schemeClr val="lt1"/>
                </a:solidFill>
              </a:rPr>
              <a:t>b. Operaciones HTTP estándar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b="1" lang="es-419" sz="2000">
                <a:solidFill>
                  <a:schemeClr val="lt1"/>
                </a:solidFill>
              </a:rPr>
              <a:t>Método</a:t>
            </a:r>
            <a:r>
              <a:rPr lang="es-419" sz="2000">
                <a:solidFill>
                  <a:schemeClr val="lt1"/>
                </a:solidFill>
              </a:rPr>
              <a:t>	              </a:t>
            </a:r>
            <a:r>
              <a:rPr b="1" lang="es-419" sz="2000">
                <a:solidFill>
                  <a:schemeClr val="lt1"/>
                </a:solidFill>
              </a:rPr>
              <a:t>Acción	                    Ejemplo</a:t>
            </a:r>
            <a:endParaRPr b="1"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419" sz="2000">
                <a:solidFill>
                  <a:schemeClr val="lt1"/>
                </a:solidFill>
              </a:rPr>
              <a:t>GET	          Obtener datos	         /api/estudiantes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419" sz="2000">
                <a:solidFill>
                  <a:schemeClr val="lt1"/>
                </a:solidFill>
              </a:rPr>
              <a:t>POST	              Crear	                /api/estudiantes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419" sz="2000">
                <a:solidFill>
                  <a:schemeClr val="lt1"/>
                </a:solidFill>
              </a:rPr>
              <a:t>PUT	            Actualizar	         /api/estudiantes/123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rPr lang="es-419" sz="2000">
                <a:solidFill>
                  <a:schemeClr val="lt1"/>
                </a:solidFill>
              </a:rPr>
              <a:t>DELETE	            Eliminar	                /api/estudiantes/123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978150" y="2299975"/>
            <a:ext cx="4395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d. </a:t>
            </a:r>
            <a:r>
              <a:rPr b="1" lang="es-419" sz="2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Uso de Representaciones</a:t>
            </a:r>
            <a:endParaRPr sz="2400">
              <a:solidFill>
                <a:srgbClr val="000000"/>
              </a:solidFill>
            </a:endParaRPr>
          </a:p>
        </p:txBody>
      </p:sp>
      <p:sp>
        <p:nvSpPr>
          <p:cNvPr id="91" name="Google Shape;91;p17"/>
          <p:cNvSpPr txBox="1"/>
          <p:nvPr/>
        </p:nvSpPr>
        <p:spPr>
          <a:xfrm>
            <a:off x="2374200" y="2880075"/>
            <a:ext cx="4395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⭕</a:t>
            </a:r>
            <a:r>
              <a:rPr lang="es-419"/>
              <a:t>Los recursos pueden ser devueltos en JSON, XML, etc.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Ejemplo JSON:</a:t>
            </a:r>
            <a:endParaRPr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				"id": 123,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				"nombre": "Juan",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				"curso": "Java Avanzado"</a:t>
            </a:r>
            <a:endParaRPr/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7"/>
          <p:cNvSpPr txBox="1"/>
          <p:nvPr/>
        </p:nvSpPr>
        <p:spPr>
          <a:xfrm>
            <a:off x="1203600" y="435875"/>
            <a:ext cx="6736800" cy="18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24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c. Sin estado</a:t>
            </a:r>
            <a:endParaRPr b="1" sz="24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Cada petición contiene toda la información necesaria.</a:t>
            </a:r>
            <a:endParaRPr sz="15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No se guarda estado entre cliente y servidor.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500">
                <a:latin typeface="Roboto"/>
                <a:ea typeface="Roboto"/>
                <a:cs typeface="Roboto"/>
                <a:sym typeface="Roboto"/>
              </a:rPr>
              <a:t>🔄 "Cada petición es un nuevo registro, los servidores no recuerda lo anterior".</a:t>
            </a:r>
            <a:endParaRPr sz="15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424625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 SemiBold"/>
                <a:ea typeface="Roboto SemiBold"/>
                <a:cs typeface="Roboto SemiBold"/>
                <a:sym typeface="Roboto SemiBold"/>
              </a:rPr>
              <a:t>Ejemplo de API REST simple en Spring Boot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1138200" y="1519075"/>
            <a:ext cx="6867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@RestController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@RequestMapping("/api/estudiantes")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public class EstudianteController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@GetMapping("/{id}")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public ResponseEntity&lt;Estudiante&gt; obtenerEstudiante(@PathVariable Long id)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Estudiante est = servicio.findById(id);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return ResponseEntity.ok(est);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@PostMapping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public ResponseEntity&lt;Estudiante&gt; crear(@RequestBody Estudiante est) {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Estudiante nuevo = servicio.save(est);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    return ResponseEntity.status(HttpStatus.CREATED).body(nuevo);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    }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/>
              <a:t>}</a:t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3375" y="1519078"/>
            <a:ext cx="2002425" cy="515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592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419" sz="3000">
                <a:latin typeface="Roboto"/>
                <a:ea typeface="Roboto"/>
                <a:cs typeface="Roboto"/>
                <a:sym typeface="Roboto"/>
              </a:rPr>
              <a:t>¿Qué es la Programación Asíncrona?</a:t>
            </a:r>
            <a:endParaRPr b="1" sz="3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11700" y="1547425"/>
            <a:ext cx="85206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📌 Definición: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Programación</a:t>
            </a:r>
            <a:r>
              <a:rPr lang="es-419" sz="1600"/>
              <a:t> la cual permite ejecutar tareas sin bloquear el hilo principal.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Fundamental para aplicaciones web que necesitan alto rendimiento y escalabilidad.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🎯 </a:t>
            </a:r>
            <a:r>
              <a:rPr lang="es-419" sz="1600"/>
              <a:t>Analogía</a:t>
            </a:r>
            <a:r>
              <a:rPr lang="es-419" sz="1600"/>
              <a:t>: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“Imagina que haces un pedido en un restaurante y en lugar de quedarte esperando en la cocina, vas a tu mesa y te avisan cuando esté listo. Eso es asincronía.”</a:t>
            </a:r>
            <a:endParaRPr sz="16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/>
              <a:t>📌 Ventajas: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Mejora la experiencia del usuario.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Aumenta el rendimiento del servidor.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s-419" sz="1600"/>
              <a:t>Reduce el uso innecesario de recursos.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311700" y="391950"/>
            <a:ext cx="8520600" cy="62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>
                <a:latin typeface="Roboto SemiBold"/>
                <a:ea typeface="Roboto SemiBold"/>
                <a:cs typeface="Roboto SemiBold"/>
                <a:sym typeface="Roboto SemiBold"/>
              </a:rPr>
              <a:t>Programación Asíncrona en APIs REST con Spring Boot</a:t>
            </a:r>
            <a:endParaRPr>
              <a:latin typeface="Roboto SemiBold"/>
              <a:ea typeface="Roboto SemiBold"/>
              <a:cs typeface="Roboto SemiBold"/>
              <a:sym typeface="Roboto SemiBold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311725" y="1425275"/>
            <a:ext cx="7743600" cy="73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/>
              <a:t>¿Cómo se implementa?</a:t>
            </a:r>
            <a:endParaRPr b="1" sz="12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s-419" sz="1200"/>
              <a:t>Spring Boot ofrece varias formas, pero la más común es usando 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@Async</a:t>
            </a:r>
            <a:r>
              <a:rPr lang="es-419" sz="1200"/>
              <a:t> y tipos como 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CompletableFuture</a:t>
            </a:r>
            <a:r>
              <a:rPr lang="es-419" sz="1200"/>
              <a:t>.</a:t>
            </a:r>
            <a:endParaRPr sz="1200"/>
          </a:p>
        </p:txBody>
      </p:sp>
      <p:sp>
        <p:nvSpPr>
          <p:cNvPr id="112" name="Google Shape;112;p20"/>
          <p:cNvSpPr txBox="1"/>
          <p:nvPr/>
        </p:nvSpPr>
        <p:spPr>
          <a:xfrm>
            <a:off x="311725" y="2127875"/>
            <a:ext cx="7939800" cy="13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/>
              <a:t>Ejemplo real con </a:t>
            </a:r>
            <a:r>
              <a:rPr b="1"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@Async</a:t>
            </a:r>
            <a:r>
              <a:rPr b="1" lang="es-419" sz="1200"/>
              <a:t>:</a:t>
            </a:r>
            <a:endParaRPr b="1" sz="1200"/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es-419" sz="1200">
                <a:latin typeface="Roboto Mono"/>
                <a:ea typeface="Roboto Mono"/>
                <a:cs typeface="Roboto Mono"/>
                <a:sym typeface="Roboto Mono"/>
              </a:rPr>
              <a:t>@Async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155CC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CompletableFuture&lt;Estudiante&gt; </a:t>
            </a:r>
            <a:r>
              <a:rPr lang="es-419" sz="12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buscarEstudianteAsync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(Long id) {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</a:t>
            </a:r>
            <a:r>
              <a:rPr lang="es-419" sz="1200">
                <a:solidFill>
                  <a:srgbClr val="B45F06"/>
                </a:solidFill>
                <a:latin typeface="Roboto Mono"/>
                <a:ea typeface="Roboto Mono"/>
                <a:cs typeface="Roboto Mono"/>
                <a:sym typeface="Roboto Mono"/>
              </a:rPr>
              <a:t> Estudiante est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= servicio.findById(id);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1200">
                <a:solidFill>
                  <a:srgbClr val="1C4587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CompletableFuture.completedFuture(est);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311725" y="3332600"/>
            <a:ext cx="7743600" cy="165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s-419" sz="1200"/>
              <a:t>Llamada desde el controlador:</a:t>
            </a:r>
            <a:endParaRPr b="1"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-419" sz="1200">
                <a:latin typeface="Roboto Mono"/>
                <a:ea typeface="Roboto Mono"/>
                <a:cs typeface="Roboto Mono"/>
                <a:sym typeface="Roboto Mono"/>
              </a:rPr>
              <a:t>@GetMapping("/async/{id}")</a:t>
            </a:r>
            <a:endParaRPr sz="12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C4587"/>
                </a:solidFill>
                <a:latin typeface="Roboto Mono"/>
                <a:ea typeface="Roboto Mono"/>
                <a:cs typeface="Roboto Mono"/>
                <a:sym typeface="Roboto Mono"/>
              </a:rPr>
              <a:t>public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CompletableFuture&lt;ResponseEntity&lt;Estudiante&gt;&gt; </a:t>
            </a:r>
            <a:r>
              <a:rPr lang="es-419" sz="1200">
                <a:solidFill>
                  <a:srgbClr val="980000"/>
                </a:solidFill>
                <a:latin typeface="Roboto Mono"/>
                <a:ea typeface="Roboto Mono"/>
                <a:cs typeface="Roboto Mono"/>
                <a:sym typeface="Roboto Mono"/>
              </a:rPr>
              <a:t>obtenerAsync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(@PathVariable Long id) {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</a:t>
            </a:r>
            <a:r>
              <a:rPr lang="es-419" sz="1200">
                <a:solidFill>
                  <a:srgbClr val="1C4587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servicio.buscarEstudianteAsync(id)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                  .thenApply(ResponseEntity::ok);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2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